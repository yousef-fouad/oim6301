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 snapToGrid="0">
      <p:cViewPr varScale="1">
        <p:scale>
          <a:sx n="79" d="100"/>
          <a:sy n="79" d="100"/>
        </p:scale>
        <p:origin x="5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3FB7F5-A108-41F6-A2EF-78EDA7F51668}" type="doc">
      <dgm:prSet loTypeId="urn:microsoft.com/office/officeart/2018/5/layout/IconLeafLabelList" loCatId="icon" qsTypeId="urn:microsoft.com/office/officeart/2005/8/quickstyle/simple1#33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A805643-C0FB-4AF9-876B-50136EA4314B}">
      <dgm:prSet/>
      <dgm:spPr/>
      <dgm:t>
        <a:bodyPr/>
        <a:lstStyle/>
        <a:p>
          <a:pPr>
            <a:defRPr cap="all"/>
          </a:pPr>
          <a:r>
            <a:rPr lang="en-US"/>
            <a:t>Data center and pool need to be relatively close </a:t>
          </a:r>
        </a:p>
      </dgm:t>
    </dgm:pt>
    <dgm:pt modelId="{A0A395BD-2ECE-46ED-91B3-3DDC0E176BC8}" type="parTrans" cxnId="{97BD95D3-FD99-429F-888F-1AEEE5AE598F}">
      <dgm:prSet/>
      <dgm:spPr/>
      <dgm:t>
        <a:bodyPr/>
        <a:lstStyle/>
        <a:p>
          <a:endParaRPr lang="en-US"/>
        </a:p>
      </dgm:t>
    </dgm:pt>
    <dgm:pt modelId="{6F9BF5FA-2779-4AD4-A467-56350FDF099A}" type="sibTrans" cxnId="{97BD95D3-FD99-429F-888F-1AEEE5AE598F}">
      <dgm:prSet/>
      <dgm:spPr/>
      <dgm:t>
        <a:bodyPr/>
        <a:lstStyle/>
        <a:p>
          <a:endParaRPr lang="en-US"/>
        </a:p>
      </dgm:t>
    </dgm:pt>
    <dgm:pt modelId="{D7CDB278-7A39-4386-8695-30655A0EAB23}">
      <dgm:prSet/>
      <dgm:spPr/>
      <dgm:t>
        <a:bodyPr/>
        <a:lstStyle/>
        <a:p>
          <a:pPr>
            <a:defRPr cap="all"/>
          </a:pPr>
          <a:r>
            <a:rPr lang="en-US"/>
            <a:t>What happens when the pool does not need more heat? </a:t>
          </a:r>
        </a:p>
      </dgm:t>
    </dgm:pt>
    <dgm:pt modelId="{773B281B-4F57-42FD-B756-E77D9019A695}" type="parTrans" cxnId="{1CC1C2AA-DF62-42AB-9F05-48B32F00B940}">
      <dgm:prSet/>
      <dgm:spPr/>
      <dgm:t>
        <a:bodyPr/>
        <a:lstStyle/>
        <a:p>
          <a:endParaRPr lang="en-US"/>
        </a:p>
      </dgm:t>
    </dgm:pt>
    <dgm:pt modelId="{EB0C8B98-7288-4084-A799-7A4912E6377D}" type="sibTrans" cxnId="{1CC1C2AA-DF62-42AB-9F05-48B32F00B940}">
      <dgm:prSet/>
      <dgm:spPr/>
      <dgm:t>
        <a:bodyPr/>
        <a:lstStyle/>
        <a:p>
          <a:endParaRPr lang="en-US"/>
        </a:p>
      </dgm:t>
    </dgm:pt>
    <dgm:pt modelId="{2254F4CA-917B-4EC9-B3C1-D66AE639BBE8}">
      <dgm:prSet/>
      <dgm:spPr/>
      <dgm:t>
        <a:bodyPr/>
        <a:lstStyle/>
        <a:p>
          <a:pPr>
            <a:defRPr cap="all"/>
          </a:pPr>
          <a:r>
            <a:rPr lang="en-US"/>
            <a:t>Backup cooling and heating systems are still needed </a:t>
          </a:r>
        </a:p>
      </dgm:t>
    </dgm:pt>
    <dgm:pt modelId="{8BA7E89C-C996-4F82-BDC3-A69A43658F8E}" type="parTrans" cxnId="{3ADC53D0-4AD8-406D-809D-91E57A7C99E0}">
      <dgm:prSet/>
      <dgm:spPr/>
      <dgm:t>
        <a:bodyPr/>
        <a:lstStyle/>
        <a:p>
          <a:endParaRPr lang="en-US"/>
        </a:p>
      </dgm:t>
    </dgm:pt>
    <dgm:pt modelId="{3B7DD50B-B4AB-4BB3-B105-C4451A48A606}" type="sibTrans" cxnId="{3ADC53D0-4AD8-406D-809D-91E57A7C99E0}">
      <dgm:prSet/>
      <dgm:spPr/>
      <dgm:t>
        <a:bodyPr/>
        <a:lstStyle/>
        <a:p>
          <a:endParaRPr lang="en-US"/>
        </a:p>
      </dgm:t>
    </dgm:pt>
    <dgm:pt modelId="{4459DC26-26AD-460B-9DC7-D80A9E4D20F7}">
      <dgm:prSet/>
      <dgm:spPr/>
      <dgm:t>
        <a:bodyPr/>
        <a:lstStyle/>
        <a:p>
          <a:pPr>
            <a:defRPr cap="all"/>
          </a:pPr>
          <a:r>
            <a:rPr lang="en-US"/>
            <a:t>Installation costs could be high </a:t>
          </a:r>
        </a:p>
      </dgm:t>
    </dgm:pt>
    <dgm:pt modelId="{8F5EB2D0-91CF-49B4-AF7B-2D56EDE7E53E}" type="parTrans" cxnId="{EF32EE0D-DE4D-48B1-8C93-7E520FFD8FBB}">
      <dgm:prSet/>
      <dgm:spPr/>
      <dgm:t>
        <a:bodyPr/>
        <a:lstStyle/>
        <a:p>
          <a:endParaRPr lang="en-US"/>
        </a:p>
      </dgm:t>
    </dgm:pt>
    <dgm:pt modelId="{7AAEE28D-BF9D-4A4F-A343-B13DF5EE8127}" type="sibTrans" cxnId="{EF32EE0D-DE4D-48B1-8C93-7E520FFD8FBB}">
      <dgm:prSet/>
      <dgm:spPr/>
      <dgm:t>
        <a:bodyPr/>
        <a:lstStyle/>
        <a:p>
          <a:endParaRPr lang="en-US"/>
        </a:p>
      </dgm:t>
    </dgm:pt>
    <dgm:pt modelId="{DE7DA97F-2549-4BE2-B7FB-6E7B750C0761}">
      <dgm:prSet/>
      <dgm:spPr/>
      <dgm:t>
        <a:bodyPr/>
        <a:lstStyle/>
        <a:p>
          <a:pPr>
            <a:defRPr cap="all"/>
          </a:pPr>
          <a:r>
            <a:rPr lang="en-US"/>
            <a:t>How much money and energy would actually be saved?</a:t>
          </a:r>
        </a:p>
      </dgm:t>
    </dgm:pt>
    <dgm:pt modelId="{4546D0DA-D7E2-4798-844D-90472B3BDE5E}" type="parTrans" cxnId="{77C830F8-3573-4EBF-AEA7-03010A575C65}">
      <dgm:prSet/>
      <dgm:spPr/>
      <dgm:t>
        <a:bodyPr/>
        <a:lstStyle/>
        <a:p>
          <a:endParaRPr lang="en-US"/>
        </a:p>
      </dgm:t>
    </dgm:pt>
    <dgm:pt modelId="{B89157DB-BBEE-4074-BC6F-B72F52B8459F}" type="sibTrans" cxnId="{77C830F8-3573-4EBF-AEA7-03010A575C65}">
      <dgm:prSet/>
      <dgm:spPr/>
      <dgm:t>
        <a:bodyPr/>
        <a:lstStyle/>
        <a:p>
          <a:endParaRPr lang="en-US"/>
        </a:p>
      </dgm:t>
    </dgm:pt>
    <dgm:pt modelId="{7D181466-E10E-4FA6-A103-2AA82AA1506A}" type="pres">
      <dgm:prSet presAssocID="{1B3FB7F5-A108-41F6-A2EF-78EDA7F51668}" presName="root" presStyleCnt="0">
        <dgm:presLayoutVars>
          <dgm:dir/>
          <dgm:resizeHandles val="exact"/>
        </dgm:presLayoutVars>
      </dgm:prSet>
      <dgm:spPr/>
    </dgm:pt>
    <dgm:pt modelId="{9A9ECD69-1DC9-49E3-BC8A-8EB92F070F2A}" type="pres">
      <dgm:prSet presAssocID="{1A805643-C0FB-4AF9-876B-50136EA4314B}" presName="compNode" presStyleCnt="0"/>
      <dgm:spPr/>
    </dgm:pt>
    <dgm:pt modelId="{C73B365D-DE7D-43B7-9C4A-4376F5149D2C}" type="pres">
      <dgm:prSet presAssocID="{1A805643-C0FB-4AF9-876B-50136EA4314B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3A277B1-A100-40FC-AFF5-F128DDA937BC}" type="pres">
      <dgm:prSet presAssocID="{1A805643-C0FB-4AF9-876B-50136EA4314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1665D69-091C-4604-878B-B5579AF857AA}" type="pres">
      <dgm:prSet presAssocID="{1A805643-C0FB-4AF9-876B-50136EA4314B}" presName="spaceRect" presStyleCnt="0"/>
      <dgm:spPr/>
    </dgm:pt>
    <dgm:pt modelId="{33CDB963-D95D-4E67-8794-5DACFFAA08AE}" type="pres">
      <dgm:prSet presAssocID="{1A805643-C0FB-4AF9-876B-50136EA4314B}" presName="textRect" presStyleLbl="revTx" presStyleIdx="0" presStyleCnt="5">
        <dgm:presLayoutVars>
          <dgm:chMax val="1"/>
          <dgm:chPref val="1"/>
        </dgm:presLayoutVars>
      </dgm:prSet>
      <dgm:spPr/>
    </dgm:pt>
    <dgm:pt modelId="{00593993-F6F0-4914-BCCB-3C55C46486C4}" type="pres">
      <dgm:prSet presAssocID="{6F9BF5FA-2779-4AD4-A467-56350FDF099A}" presName="sibTrans" presStyleCnt="0"/>
      <dgm:spPr/>
    </dgm:pt>
    <dgm:pt modelId="{33C324F5-6FD9-4DFB-8902-3A1BB4E731B5}" type="pres">
      <dgm:prSet presAssocID="{D7CDB278-7A39-4386-8695-30655A0EAB23}" presName="compNode" presStyleCnt="0"/>
      <dgm:spPr/>
    </dgm:pt>
    <dgm:pt modelId="{BAD768E5-F736-4D90-BF64-73325A3F3AC7}" type="pres">
      <dgm:prSet presAssocID="{D7CDB278-7A39-4386-8695-30655A0EAB23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1107DB8-00A7-4371-9944-4119BCAF66E0}" type="pres">
      <dgm:prSet presAssocID="{D7CDB278-7A39-4386-8695-30655A0EAB2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fe jacket"/>
        </a:ext>
      </dgm:extLst>
    </dgm:pt>
    <dgm:pt modelId="{329E2579-40F7-4E97-92D9-D2E44058A380}" type="pres">
      <dgm:prSet presAssocID="{D7CDB278-7A39-4386-8695-30655A0EAB23}" presName="spaceRect" presStyleCnt="0"/>
      <dgm:spPr/>
    </dgm:pt>
    <dgm:pt modelId="{3E239E84-EEBA-40B3-8C42-3A2CD4EA3797}" type="pres">
      <dgm:prSet presAssocID="{D7CDB278-7A39-4386-8695-30655A0EAB23}" presName="textRect" presStyleLbl="revTx" presStyleIdx="1" presStyleCnt="5">
        <dgm:presLayoutVars>
          <dgm:chMax val="1"/>
          <dgm:chPref val="1"/>
        </dgm:presLayoutVars>
      </dgm:prSet>
      <dgm:spPr/>
    </dgm:pt>
    <dgm:pt modelId="{879D50AF-6208-4098-ADA7-8D56A2FE6043}" type="pres">
      <dgm:prSet presAssocID="{EB0C8B98-7288-4084-A799-7A4912E6377D}" presName="sibTrans" presStyleCnt="0"/>
      <dgm:spPr/>
    </dgm:pt>
    <dgm:pt modelId="{15DAD086-7F88-49A7-B277-0342D761D6D4}" type="pres">
      <dgm:prSet presAssocID="{2254F4CA-917B-4EC9-B3C1-D66AE639BBE8}" presName="compNode" presStyleCnt="0"/>
      <dgm:spPr/>
    </dgm:pt>
    <dgm:pt modelId="{8D0C1BC8-F548-48EE-8A03-0CE2A38247B9}" type="pres">
      <dgm:prSet presAssocID="{2254F4CA-917B-4EC9-B3C1-D66AE639BBE8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979227D-01EA-4549-8D85-1540FE49D3A5}" type="pres">
      <dgm:prSet presAssocID="{2254F4CA-917B-4EC9-B3C1-D66AE639BBE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9152F9D0-6856-4671-9B78-D9614284CC38}" type="pres">
      <dgm:prSet presAssocID="{2254F4CA-917B-4EC9-B3C1-D66AE639BBE8}" presName="spaceRect" presStyleCnt="0"/>
      <dgm:spPr/>
    </dgm:pt>
    <dgm:pt modelId="{EA652891-1DBE-4B68-A6DA-F63AF184B640}" type="pres">
      <dgm:prSet presAssocID="{2254F4CA-917B-4EC9-B3C1-D66AE639BBE8}" presName="textRect" presStyleLbl="revTx" presStyleIdx="2" presStyleCnt="5">
        <dgm:presLayoutVars>
          <dgm:chMax val="1"/>
          <dgm:chPref val="1"/>
        </dgm:presLayoutVars>
      </dgm:prSet>
      <dgm:spPr/>
    </dgm:pt>
    <dgm:pt modelId="{4CD6162B-C723-4952-8A26-E41FFA1F6743}" type="pres">
      <dgm:prSet presAssocID="{3B7DD50B-B4AB-4BB3-B105-C4451A48A606}" presName="sibTrans" presStyleCnt="0"/>
      <dgm:spPr/>
    </dgm:pt>
    <dgm:pt modelId="{A12734C6-CE16-43C9-946D-2180A33C34C7}" type="pres">
      <dgm:prSet presAssocID="{4459DC26-26AD-460B-9DC7-D80A9E4D20F7}" presName="compNode" presStyleCnt="0"/>
      <dgm:spPr/>
    </dgm:pt>
    <dgm:pt modelId="{A6B01425-03FF-4C70-B7D3-3D5391D36DC2}" type="pres">
      <dgm:prSet presAssocID="{4459DC26-26AD-460B-9DC7-D80A9E4D20F7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9594377-EA39-43E1-8168-BEC7BBE22C98}" type="pres">
      <dgm:prSet presAssocID="{4459DC26-26AD-460B-9DC7-D80A9E4D20F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3906386-6194-4D1B-B54A-F6FE3DE12D15}" type="pres">
      <dgm:prSet presAssocID="{4459DC26-26AD-460B-9DC7-D80A9E4D20F7}" presName="spaceRect" presStyleCnt="0"/>
      <dgm:spPr/>
    </dgm:pt>
    <dgm:pt modelId="{72F91E1A-6BE0-4278-9026-2E936A06AE6B}" type="pres">
      <dgm:prSet presAssocID="{4459DC26-26AD-460B-9DC7-D80A9E4D20F7}" presName="textRect" presStyleLbl="revTx" presStyleIdx="3" presStyleCnt="5">
        <dgm:presLayoutVars>
          <dgm:chMax val="1"/>
          <dgm:chPref val="1"/>
        </dgm:presLayoutVars>
      </dgm:prSet>
      <dgm:spPr/>
    </dgm:pt>
    <dgm:pt modelId="{90FEBBC7-EC93-470D-809F-BB8F0A05E164}" type="pres">
      <dgm:prSet presAssocID="{7AAEE28D-BF9D-4A4F-A343-B13DF5EE8127}" presName="sibTrans" presStyleCnt="0"/>
      <dgm:spPr/>
    </dgm:pt>
    <dgm:pt modelId="{1120FBD0-9920-49C0-9A31-096CA728EFBC}" type="pres">
      <dgm:prSet presAssocID="{DE7DA97F-2549-4BE2-B7FB-6E7B750C0761}" presName="compNode" presStyleCnt="0"/>
      <dgm:spPr/>
    </dgm:pt>
    <dgm:pt modelId="{8BEBDE84-83A8-49E8-AC45-119A84217ACB}" type="pres">
      <dgm:prSet presAssocID="{DE7DA97F-2549-4BE2-B7FB-6E7B750C0761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B023BDA-8CBB-4452-B3DF-95C15CE43AF0}" type="pres">
      <dgm:prSet presAssocID="{DE7DA97F-2549-4BE2-B7FB-6E7B750C076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13ED39CF-D70E-4D49-BF18-EEA237626CE6}" type="pres">
      <dgm:prSet presAssocID="{DE7DA97F-2549-4BE2-B7FB-6E7B750C0761}" presName="spaceRect" presStyleCnt="0"/>
      <dgm:spPr/>
    </dgm:pt>
    <dgm:pt modelId="{E8141DB2-1F1C-4AA8-8198-CE7DB510DB70}" type="pres">
      <dgm:prSet presAssocID="{DE7DA97F-2549-4BE2-B7FB-6E7B750C076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D373300-E4DE-4705-A012-69F6C6F2D3C0}" type="presOf" srcId="{4459DC26-26AD-460B-9DC7-D80A9E4D20F7}" destId="{72F91E1A-6BE0-4278-9026-2E936A06AE6B}" srcOrd="0" destOrd="0" presId="urn:microsoft.com/office/officeart/2018/5/layout/IconLeafLabelList"/>
    <dgm:cxn modelId="{EF32EE0D-DE4D-48B1-8C93-7E520FFD8FBB}" srcId="{1B3FB7F5-A108-41F6-A2EF-78EDA7F51668}" destId="{4459DC26-26AD-460B-9DC7-D80A9E4D20F7}" srcOrd="3" destOrd="0" parTransId="{8F5EB2D0-91CF-49B4-AF7B-2D56EDE7E53E}" sibTransId="{7AAEE28D-BF9D-4A4F-A343-B13DF5EE8127}"/>
    <dgm:cxn modelId="{F3E4E244-700C-4423-9ECF-E74525436C4D}" type="presOf" srcId="{1B3FB7F5-A108-41F6-A2EF-78EDA7F51668}" destId="{7D181466-E10E-4FA6-A103-2AA82AA1506A}" srcOrd="0" destOrd="0" presId="urn:microsoft.com/office/officeart/2018/5/layout/IconLeafLabelList"/>
    <dgm:cxn modelId="{AABD2691-446B-41A7-91E0-4A3BC9AED70C}" type="presOf" srcId="{1A805643-C0FB-4AF9-876B-50136EA4314B}" destId="{33CDB963-D95D-4E67-8794-5DACFFAA08AE}" srcOrd="0" destOrd="0" presId="urn:microsoft.com/office/officeart/2018/5/layout/IconLeafLabelList"/>
    <dgm:cxn modelId="{0A7E1E9E-B74B-4C23-8706-D25D00C10384}" type="presOf" srcId="{DE7DA97F-2549-4BE2-B7FB-6E7B750C0761}" destId="{E8141DB2-1F1C-4AA8-8198-CE7DB510DB70}" srcOrd="0" destOrd="0" presId="urn:microsoft.com/office/officeart/2018/5/layout/IconLeafLabelList"/>
    <dgm:cxn modelId="{BB8B58A3-7F10-458A-9FFC-2E3CFEF9EC15}" type="presOf" srcId="{D7CDB278-7A39-4386-8695-30655A0EAB23}" destId="{3E239E84-EEBA-40B3-8C42-3A2CD4EA3797}" srcOrd="0" destOrd="0" presId="urn:microsoft.com/office/officeart/2018/5/layout/IconLeafLabelList"/>
    <dgm:cxn modelId="{2C5474A4-0C68-45AA-845D-E7D2CF43F753}" type="presOf" srcId="{2254F4CA-917B-4EC9-B3C1-D66AE639BBE8}" destId="{EA652891-1DBE-4B68-A6DA-F63AF184B640}" srcOrd="0" destOrd="0" presId="urn:microsoft.com/office/officeart/2018/5/layout/IconLeafLabelList"/>
    <dgm:cxn modelId="{1CC1C2AA-DF62-42AB-9F05-48B32F00B940}" srcId="{1B3FB7F5-A108-41F6-A2EF-78EDA7F51668}" destId="{D7CDB278-7A39-4386-8695-30655A0EAB23}" srcOrd="1" destOrd="0" parTransId="{773B281B-4F57-42FD-B756-E77D9019A695}" sibTransId="{EB0C8B98-7288-4084-A799-7A4912E6377D}"/>
    <dgm:cxn modelId="{3ADC53D0-4AD8-406D-809D-91E57A7C99E0}" srcId="{1B3FB7F5-A108-41F6-A2EF-78EDA7F51668}" destId="{2254F4CA-917B-4EC9-B3C1-D66AE639BBE8}" srcOrd="2" destOrd="0" parTransId="{8BA7E89C-C996-4F82-BDC3-A69A43658F8E}" sibTransId="{3B7DD50B-B4AB-4BB3-B105-C4451A48A606}"/>
    <dgm:cxn modelId="{97BD95D3-FD99-429F-888F-1AEEE5AE598F}" srcId="{1B3FB7F5-A108-41F6-A2EF-78EDA7F51668}" destId="{1A805643-C0FB-4AF9-876B-50136EA4314B}" srcOrd="0" destOrd="0" parTransId="{A0A395BD-2ECE-46ED-91B3-3DDC0E176BC8}" sibTransId="{6F9BF5FA-2779-4AD4-A467-56350FDF099A}"/>
    <dgm:cxn modelId="{77C830F8-3573-4EBF-AEA7-03010A575C65}" srcId="{1B3FB7F5-A108-41F6-A2EF-78EDA7F51668}" destId="{DE7DA97F-2549-4BE2-B7FB-6E7B750C0761}" srcOrd="4" destOrd="0" parTransId="{4546D0DA-D7E2-4798-844D-90472B3BDE5E}" sibTransId="{B89157DB-BBEE-4074-BC6F-B72F52B8459F}"/>
    <dgm:cxn modelId="{69013B54-05B2-4DC9-AAC2-18AA64A044AA}" type="presParOf" srcId="{7D181466-E10E-4FA6-A103-2AA82AA1506A}" destId="{9A9ECD69-1DC9-49E3-BC8A-8EB92F070F2A}" srcOrd="0" destOrd="0" presId="urn:microsoft.com/office/officeart/2018/5/layout/IconLeafLabelList"/>
    <dgm:cxn modelId="{E2DE8BC7-31D3-4341-9678-9AF4569209DA}" type="presParOf" srcId="{9A9ECD69-1DC9-49E3-BC8A-8EB92F070F2A}" destId="{C73B365D-DE7D-43B7-9C4A-4376F5149D2C}" srcOrd="0" destOrd="0" presId="urn:microsoft.com/office/officeart/2018/5/layout/IconLeafLabelList"/>
    <dgm:cxn modelId="{B1D92D99-B23F-426A-8516-6F8ADAD4C54F}" type="presParOf" srcId="{9A9ECD69-1DC9-49E3-BC8A-8EB92F070F2A}" destId="{C3A277B1-A100-40FC-AFF5-F128DDA937BC}" srcOrd="1" destOrd="0" presId="urn:microsoft.com/office/officeart/2018/5/layout/IconLeafLabelList"/>
    <dgm:cxn modelId="{C68428A8-FADF-480F-8076-78DDF28BB54C}" type="presParOf" srcId="{9A9ECD69-1DC9-49E3-BC8A-8EB92F070F2A}" destId="{21665D69-091C-4604-878B-B5579AF857AA}" srcOrd="2" destOrd="0" presId="urn:microsoft.com/office/officeart/2018/5/layout/IconLeafLabelList"/>
    <dgm:cxn modelId="{589DED6A-FE20-45C8-A05B-99CD28EF2017}" type="presParOf" srcId="{9A9ECD69-1DC9-49E3-BC8A-8EB92F070F2A}" destId="{33CDB963-D95D-4E67-8794-5DACFFAA08AE}" srcOrd="3" destOrd="0" presId="urn:microsoft.com/office/officeart/2018/5/layout/IconLeafLabelList"/>
    <dgm:cxn modelId="{6A371A07-81A2-4DD3-9F32-587395481D99}" type="presParOf" srcId="{7D181466-E10E-4FA6-A103-2AA82AA1506A}" destId="{00593993-F6F0-4914-BCCB-3C55C46486C4}" srcOrd="1" destOrd="0" presId="urn:microsoft.com/office/officeart/2018/5/layout/IconLeafLabelList"/>
    <dgm:cxn modelId="{2C2074CB-7CCA-4D1C-9183-168BDBAAFC17}" type="presParOf" srcId="{7D181466-E10E-4FA6-A103-2AA82AA1506A}" destId="{33C324F5-6FD9-4DFB-8902-3A1BB4E731B5}" srcOrd="2" destOrd="0" presId="urn:microsoft.com/office/officeart/2018/5/layout/IconLeafLabelList"/>
    <dgm:cxn modelId="{C88D83FB-9304-4189-AA6A-3D20C3558AED}" type="presParOf" srcId="{33C324F5-6FD9-4DFB-8902-3A1BB4E731B5}" destId="{BAD768E5-F736-4D90-BF64-73325A3F3AC7}" srcOrd="0" destOrd="0" presId="urn:microsoft.com/office/officeart/2018/5/layout/IconLeafLabelList"/>
    <dgm:cxn modelId="{9C9286C0-F79E-455E-82A6-9E8584C56FE3}" type="presParOf" srcId="{33C324F5-6FD9-4DFB-8902-3A1BB4E731B5}" destId="{31107DB8-00A7-4371-9944-4119BCAF66E0}" srcOrd="1" destOrd="0" presId="urn:microsoft.com/office/officeart/2018/5/layout/IconLeafLabelList"/>
    <dgm:cxn modelId="{DFE83722-70FB-4835-9749-8B6273294D7D}" type="presParOf" srcId="{33C324F5-6FD9-4DFB-8902-3A1BB4E731B5}" destId="{329E2579-40F7-4E97-92D9-D2E44058A380}" srcOrd="2" destOrd="0" presId="urn:microsoft.com/office/officeart/2018/5/layout/IconLeafLabelList"/>
    <dgm:cxn modelId="{1CED2598-1AD3-4021-B3C7-37400CC5908B}" type="presParOf" srcId="{33C324F5-6FD9-4DFB-8902-3A1BB4E731B5}" destId="{3E239E84-EEBA-40B3-8C42-3A2CD4EA3797}" srcOrd="3" destOrd="0" presId="urn:microsoft.com/office/officeart/2018/5/layout/IconLeafLabelList"/>
    <dgm:cxn modelId="{974479D3-B92E-4ADA-A181-8003C9A1EF66}" type="presParOf" srcId="{7D181466-E10E-4FA6-A103-2AA82AA1506A}" destId="{879D50AF-6208-4098-ADA7-8D56A2FE6043}" srcOrd="3" destOrd="0" presId="urn:microsoft.com/office/officeart/2018/5/layout/IconLeafLabelList"/>
    <dgm:cxn modelId="{C8B7AF68-B8A4-48EC-8264-F7B75343E04F}" type="presParOf" srcId="{7D181466-E10E-4FA6-A103-2AA82AA1506A}" destId="{15DAD086-7F88-49A7-B277-0342D761D6D4}" srcOrd="4" destOrd="0" presId="urn:microsoft.com/office/officeart/2018/5/layout/IconLeafLabelList"/>
    <dgm:cxn modelId="{3FF04017-C89D-4DB5-9EC0-E9E2E77D29A5}" type="presParOf" srcId="{15DAD086-7F88-49A7-B277-0342D761D6D4}" destId="{8D0C1BC8-F548-48EE-8A03-0CE2A38247B9}" srcOrd="0" destOrd="0" presId="urn:microsoft.com/office/officeart/2018/5/layout/IconLeafLabelList"/>
    <dgm:cxn modelId="{FA638F80-1FF8-4A94-88BE-4A020445AA4F}" type="presParOf" srcId="{15DAD086-7F88-49A7-B277-0342D761D6D4}" destId="{4979227D-01EA-4549-8D85-1540FE49D3A5}" srcOrd="1" destOrd="0" presId="urn:microsoft.com/office/officeart/2018/5/layout/IconLeafLabelList"/>
    <dgm:cxn modelId="{E4549056-12D0-4719-9485-B609FF7E953C}" type="presParOf" srcId="{15DAD086-7F88-49A7-B277-0342D761D6D4}" destId="{9152F9D0-6856-4671-9B78-D9614284CC38}" srcOrd="2" destOrd="0" presId="urn:microsoft.com/office/officeart/2018/5/layout/IconLeafLabelList"/>
    <dgm:cxn modelId="{9E2B1ABF-D41E-4EAB-AB7C-5F35234FFAF0}" type="presParOf" srcId="{15DAD086-7F88-49A7-B277-0342D761D6D4}" destId="{EA652891-1DBE-4B68-A6DA-F63AF184B640}" srcOrd="3" destOrd="0" presId="urn:microsoft.com/office/officeart/2018/5/layout/IconLeafLabelList"/>
    <dgm:cxn modelId="{518A7EB8-5818-46C1-A8F3-0C9C455B3410}" type="presParOf" srcId="{7D181466-E10E-4FA6-A103-2AA82AA1506A}" destId="{4CD6162B-C723-4952-8A26-E41FFA1F6743}" srcOrd="5" destOrd="0" presId="urn:microsoft.com/office/officeart/2018/5/layout/IconLeafLabelList"/>
    <dgm:cxn modelId="{F8B7AD82-6130-44F0-B27E-ACE720667368}" type="presParOf" srcId="{7D181466-E10E-4FA6-A103-2AA82AA1506A}" destId="{A12734C6-CE16-43C9-946D-2180A33C34C7}" srcOrd="6" destOrd="0" presId="urn:microsoft.com/office/officeart/2018/5/layout/IconLeafLabelList"/>
    <dgm:cxn modelId="{45FB22C0-9782-43F0-B875-10E0FC267D3E}" type="presParOf" srcId="{A12734C6-CE16-43C9-946D-2180A33C34C7}" destId="{A6B01425-03FF-4C70-B7D3-3D5391D36DC2}" srcOrd="0" destOrd="0" presId="urn:microsoft.com/office/officeart/2018/5/layout/IconLeafLabelList"/>
    <dgm:cxn modelId="{BA76A882-B3F9-4895-8840-FCF55B5FE1A6}" type="presParOf" srcId="{A12734C6-CE16-43C9-946D-2180A33C34C7}" destId="{C9594377-EA39-43E1-8168-BEC7BBE22C98}" srcOrd="1" destOrd="0" presId="urn:microsoft.com/office/officeart/2018/5/layout/IconLeafLabelList"/>
    <dgm:cxn modelId="{97F75156-8A38-4EDB-A31F-63F0BA662919}" type="presParOf" srcId="{A12734C6-CE16-43C9-946D-2180A33C34C7}" destId="{13906386-6194-4D1B-B54A-F6FE3DE12D15}" srcOrd="2" destOrd="0" presId="urn:microsoft.com/office/officeart/2018/5/layout/IconLeafLabelList"/>
    <dgm:cxn modelId="{B904D362-8CAC-4018-9D01-3F7639531267}" type="presParOf" srcId="{A12734C6-CE16-43C9-946D-2180A33C34C7}" destId="{72F91E1A-6BE0-4278-9026-2E936A06AE6B}" srcOrd="3" destOrd="0" presId="urn:microsoft.com/office/officeart/2018/5/layout/IconLeafLabelList"/>
    <dgm:cxn modelId="{7A0548C3-63CC-4116-B073-4C6BADFBEA30}" type="presParOf" srcId="{7D181466-E10E-4FA6-A103-2AA82AA1506A}" destId="{90FEBBC7-EC93-470D-809F-BB8F0A05E164}" srcOrd="7" destOrd="0" presId="urn:microsoft.com/office/officeart/2018/5/layout/IconLeafLabelList"/>
    <dgm:cxn modelId="{026636CB-F2AE-40A9-9AEC-6FD8DEA5C79E}" type="presParOf" srcId="{7D181466-E10E-4FA6-A103-2AA82AA1506A}" destId="{1120FBD0-9920-49C0-9A31-096CA728EFBC}" srcOrd="8" destOrd="0" presId="urn:microsoft.com/office/officeart/2018/5/layout/IconLeafLabelList"/>
    <dgm:cxn modelId="{F77D2502-365A-4B02-AD04-B25B40517BA0}" type="presParOf" srcId="{1120FBD0-9920-49C0-9A31-096CA728EFBC}" destId="{8BEBDE84-83A8-49E8-AC45-119A84217ACB}" srcOrd="0" destOrd="0" presId="urn:microsoft.com/office/officeart/2018/5/layout/IconLeafLabelList"/>
    <dgm:cxn modelId="{BAF010F5-3B03-4384-A4F5-D8443E2485FC}" type="presParOf" srcId="{1120FBD0-9920-49C0-9A31-096CA728EFBC}" destId="{CB023BDA-8CBB-4452-B3DF-95C15CE43AF0}" srcOrd="1" destOrd="0" presId="urn:microsoft.com/office/officeart/2018/5/layout/IconLeafLabelList"/>
    <dgm:cxn modelId="{68AEA781-56B0-4D91-AB38-D1AE89AA3AF4}" type="presParOf" srcId="{1120FBD0-9920-49C0-9A31-096CA728EFBC}" destId="{13ED39CF-D70E-4D49-BF18-EEA237626CE6}" srcOrd="2" destOrd="0" presId="urn:microsoft.com/office/officeart/2018/5/layout/IconLeafLabelList"/>
    <dgm:cxn modelId="{FEC3AC89-46A1-447B-9626-E79B39184447}" type="presParOf" srcId="{1120FBD0-9920-49C0-9A31-096CA728EFBC}" destId="{E8141DB2-1F1C-4AA8-8198-CE7DB510DB7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B365D-DE7D-43B7-9C4A-4376F5149D2C}">
      <dsp:nvSpPr>
        <dsp:cNvPr id="0" name=""/>
        <dsp:cNvSpPr/>
      </dsp:nvSpPr>
      <dsp:spPr>
        <a:xfrm>
          <a:off x="580452" y="2054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A277B1-A100-40FC-AFF5-F128DDA937BC}">
      <dsp:nvSpPr>
        <dsp:cNvPr id="0" name=""/>
        <dsp:cNvSpPr/>
      </dsp:nvSpPr>
      <dsp:spPr>
        <a:xfrm>
          <a:off x="756409" y="178011"/>
          <a:ext cx="473730" cy="4737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DB963-D95D-4E67-8794-5DACFFAA08AE}">
      <dsp:nvSpPr>
        <dsp:cNvPr id="0" name=""/>
        <dsp:cNvSpPr/>
      </dsp:nvSpPr>
      <dsp:spPr>
        <a:xfrm>
          <a:off x="316516" y="1084866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Data center and pool need to be relatively close </a:t>
          </a:r>
        </a:p>
      </dsp:txBody>
      <dsp:txXfrm>
        <a:off x="316516" y="1084866"/>
        <a:ext cx="1353515" cy="541406"/>
      </dsp:txXfrm>
    </dsp:sp>
    <dsp:sp modelId="{BAD768E5-F736-4D90-BF64-73325A3F3AC7}">
      <dsp:nvSpPr>
        <dsp:cNvPr id="0" name=""/>
        <dsp:cNvSpPr/>
      </dsp:nvSpPr>
      <dsp:spPr>
        <a:xfrm>
          <a:off x="2170833" y="2054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107DB8-00A7-4371-9944-4119BCAF66E0}">
      <dsp:nvSpPr>
        <dsp:cNvPr id="0" name=""/>
        <dsp:cNvSpPr/>
      </dsp:nvSpPr>
      <dsp:spPr>
        <a:xfrm>
          <a:off x="2346790" y="178011"/>
          <a:ext cx="473730" cy="4737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39E84-EEBA-40B3-8C42-3A2CD4EA3797}">
      <dsp:nvSpPr>
        <dsp:cNvPr id="0" name=""/>
        <dsp:cNvSpPr/>
      </dsp:nvSpPr>
      <dsp:spPr>
        <a:xfrm>
          <a:off x="1906897" y="1084866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What happens when the pool does not need more heat? </a:t>
          </a:r>
        </a:p>
      </dsp:txBody>
      <dsp:txXfrm>
        <a:off x="1906897" y="1084866"/>
        <a:ext cx="1353515" cy="541406"/>
      </dsp:txXfrm>
    </dsp:sp>
    <dsp:sp modelId="{8D0C1BC8-F548-48EE-8A03-0CE2A38247B9}">
      <dsp:nvSpPr>
        <dsp:cNvPr id="0" name=""/>
        <dsp:cNvSpPr/>
      </dsp:nvSpPr>
      <dsp:spPr>
        <a:xfrm>
          <a:off x="3761214" y="2054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79227D-01EA-4549-8D85-1540FE49D3A5}">
      <dsp:nvSpPr>
        <dsp:cNvPr id="0" name=""/>
        <dsp:cNvSpPr/>
      </dsp:nvSpPr>
      <dsp:spPr>
        <a:xfrm>
          <a:off x="3937171" y="178011"/>
          <a:ext cx="473730" cy="4737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52891-1DBE-4B68-A6DA-F63AF184B640}">
      <dsp:nvSpPr>
        <dsp:cNvPr id="0" name=""/>
        <dsp:cNvSpPr/>
      </dsp:nvSpPr>
      <dsp:spPr>
        <a:xfrm>
          <a:off x="3497278" y="1084866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Backup cooling and heating systems are still needed </a:t>
          </a:r>
        </a:p>
      </dsp:txBody>
      <dsp:txXfrm>
        <a:off x="3497278" y="1084866"/>
        <a:ext cx="1353515" cy="541406"/>
      </dsp:txXfrm>
    </dsp:sp>
    <dsp:sp modelId="{A6B01425-03FF-4C70-B7D3-3D5391D36DC2}">
      <dsp:nvSpPr>
        <dsp:cNvPr id="0" name=""/>
        <dsp:cNvSpPr/>
      </dsp:nvSpPr>
      <dsp:spPr>
        <a:xfrm>
          <a:off x="1375642" y="1964651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94377-EA39-43E1-8168-BEC7BBE22C98}">
      <dsp:nvSpPr>
        <dsp:cNvPr id="0" name=""/>
        <dsp:cNvSpPr/>
      </dsp:nvSpPr>
      <dsp:spPr>
        <a:xfrm>
          <a:off x="1551599" y="2140608"/>
          <a:ext cx="473730" cy="4737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91E1A-6BE0-4278-9026-2E936A06AE6B}">
      <dsp:nvSpPr>
        <dsp:cNvPr id="0" name=""/>
        <dsp:cNvSpPr/>
      </dsp:nvSpPr>
      <dsp:spPr>
        <a:xfrm>
          <a:off x="1111707" y="3047464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Installation costs could be high </a:t>
          </a:r>
        </a:p>
      </dsp:txBody>
      <dsp:txXfrm>
        <a:off x="1111707" y="3047464"/>
        <a:ext cx="1353515" cy="541406"/>
      </dsp:txXfrm>
    </dsp:sp>
    <dsp:sp modelId="{8BEBDE84-83A8-49E8-AC45-119A84217ACB}">
      <dsp:nvSpPr>
        <dsp:cNvPr id="0" name=""/>
        <dsp:cNvSpPr/>
      </dsp:nvSpPr>
      <dsp:spPr>
        <a:xfrm>
          <a:off x="2966023" y="1964651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023BDA-8CBB-4452-B3DF-95C15CE43AF0}">
      <dsp:nvSpPr>
        <dsp:cNvPr id="0" name=""/>
        <dsp:cNvSpPr/>
      </dsp:nvSpPr>
      <dsp:spPr>
        <a:xfrm>
          <a:off x="3141980" y="2140608"/>
          <a:ext cx="473730" cy="4737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41DB2-1F1C-4AA8-8198-CE7DB510DB70}">
      <dsp:nvSpPr>
        <dsp:cNvPr id="0" name=""/>
        <dsp:cNvSpPr/>
      </dsp:nvSpPr>
      <dsp:spPr>
        <a:xfrm>
          <a:off x="2702088" y="3047464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How much money and energy would actually be saved?</a:t>
          </a:r>
        </a:p>
      </dsp:txBody>
      <dsp:txXfrm>
        <a:off x="2702088" y="3047464"/>
        <a:ext cx="1353515" cy="541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1F84-318D-0D2B-7B0C-EB4F42761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027D8-9636-07D8-F34C-CBEC449C0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71DD-2532-A5CF-D771-1A8DCC13B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BDC3A-3638-128A-D77A-E2B948FB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72A72-DAF1-9B0B-21CB-E6BE743D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9AC5E-4BE1-DFBF-1CC9-21B297C3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F5D33-6BDE-BFBC-F83C-96B7A9E2E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D4ECF-516B-7F2F-7C4D-B6AF80B5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73945-864B-647A-434A-31E872023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D3FA4-F42E-B20B-8288-76BC9DC7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90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52C8D-3896-3D53-1F8D-FB1C1052B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7ACD7-C358-79CD-8422-9908D4290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9DD6B-68E0-7852-968C-BE3748235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2B0A5-B6EB-88E3-99B6-DDDF49E0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50993-7921-B787-52B5-10113AD5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1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55615-E7B0-B122-DADA-FD6E89FE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31CD8-6548-8D82-EED1-90345B671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F194B-537D-D57E-E8D9-5AC10248D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BB496-BF9A-9DFF-DD87-A6DC3D97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7342F-2FE7-C5DF-5D1B-02BC06355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5F2F4-4E5E-2BB4-4D20-24162C09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2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5CBDC-A9FC-2F6D-719B-BA835131D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9BA07-582A-52B9-7B34-9A8F37FA2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D05C2-6358-EC7D-D600-4697B7F46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4EADC-6976-91D0-437C-36E6ACAA2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14166-9DB9-5001-26A2-F9EF4D649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18E199-5233-E049-EF1E-CD0319FE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398BA-9C69-D212-BE2B-C913C841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DBBFF-B69C-3CB2-46A3-15A02BE30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8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AC454-6ED7-3CD3-38DB-9E228D9E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A4E83-B130-EEB9-B766-0CA50620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54D58-D366-E445-299E-292C268E0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3DFDB-2BC6-41CB-5638-B7FBF2334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3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D1E325-CDCB-6A86-7F22-90C08462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1F3BC-FB73-4B5C-32F1-50385E11D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8189A-9339-F381-DD51-660B879A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73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0051-036E-93D9-BABC-FF5DE8B27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9EF8D-B8C4-8086-565A-926523537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4468B-4D43-85B7-88D1-17B10543D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54369-8868-7301-5879-0552806F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3F794-E815-C408-909B-DFEAF30D1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3D384-8A7A-4E66-CA69-AAC5F778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3E971-0430-BE4B-A153-432CB6C49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0D59F-51EA-3711-04A5-D24EBE686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97061-A9F9-BD0E-F413-0B687630A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A489D-2E20-F114-B095-CD5FB3FE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10278-41A8-8F85-6775-D4827CFAF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B1CED-3AE3-B9ED-E56D-1788A1F3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0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3E63-6CD3-B97D-080F-1C1ED26E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B5590-EF5B-5025-3497-8BFDB58E9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353E2-D54F-2C73-858C-B227EA4B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3618C-CFA1-2640-F1BE-01F7031C6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DA089-E735-8FAF-AA4C-2BAD1F57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76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8E591-4E38-A7CC-508D-303C96FDE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95402-B9A0-4076-2CC4-B72E99A75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240C-38DF-309B-4283-6EB4E9AFA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6ADAA-32A5-9A1B-FD10-5B53B823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706BD-7AD1-5D89-6049-CCEF74A7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8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6AB49F-ED2B-0EF8-0697-B3116A457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1D24B-0B8A-488F-FD8E-081917313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C62DD-1C82-A244-2878-B8D07B814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69A7F-C4BF-4210-9EA5-22D87AF9B93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E2282-3250-AE7E-94BE-6AECDE639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7C28-3B70-AA03-1BD2-483C70296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D1F3BF-8F25-4DE5-8211-03ED24BBD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48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B3009-E64E-E30C-3FE2-66A332DB58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F791F2-FFC3-544F-6DD2-4E6E6437E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Data Center–Swimming Pool Energy Loop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3D9CC1-DC2E-76B7-5314-18ABAA901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Yousef</a:t>
            </a:r>
          </a:p>
        </p:txBody>
      </p:sp>
    </p:spTree>
    <p:extLst>
      <p:ext uri="{BB962C8B-B14F-4D97-AF65-F5344CB8AC3E}">
        <p14:creationId xmlns:p14="http://schemas.microsoft.com/office/powerpoint/2010/main" val="739605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1E255-588A-197E-5728-FFA2AF1C0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The Problem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8C3AE-B1B9-36B9-BB59-EF75B689A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lvl="0"/>
            <a:r>
              <a:rPr lang="en-US" sz="2200"/>
              <a:t>Data centers generate a lot of heat </a:t>
            </a:r>
          </a:p>
          <a:p>
            <a:pPr lvl="0"/>
            <a:r>
              <a:rPr lang="en-US" sz="2200"/>
              <a:t>Swimming pools require a lot of energy to stay warm </a:t>
            </a:r>
          </a:p>
          <a:p>
            <a:pPr lvl="0"/>
            <a:r>
              <a:rPr lang="en-US" sz="2200"/>
              <a:t>Both facilities spend money solving opposite problems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404A0-B701-F9A2-6419-49F07C93D8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12" r="25506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620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EABF45-2D95-C1B6-C085-4BC12835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/>
              <a:t>The 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D9538-542C-3974-4B2F-27B012790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 lvl="0"/>
            <a:r>
              <a:rPr lang="en-US" sz="2000"/>
              <a:t>Capture heat from the data center </a:t>
            </a:r>
          </a:p>
          <a:p>
            <a:pPr lvl="0"/>
            <a:r>
              <a:rPr lang="en-US" sz="2000"/>
              <a:t>Transfer it through a heat exchanger </a:t>
            </a:r>
          </a:p>
          <a:p>
            <a:pPr lvl="0"/>
            <a:r>
              <a:rPr lang="en-US" sz="2000"/>
              <a:t>Use the heat to warm the swimming pool </a:t>
            </a:r>
          </a:p>
          <a:p>
            <a:pPr lvl="0"/>
            <a:r>
              <a:rPr lang="en-US" sz="2000"/>
              <a:t>Cooler liquid returns to the data center </a:t>
            </a:r>
          </a:p>
          <a:p>
            <a:pPr lvl="0"/>
            <a:r>
              <a:rPr lang="en-US" sz="2000"/>
              <a:t>Pool water and server cooling liquid never mix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B694A2-9F28-F515-A940-6154B67E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709737"/>
            <a:ext cx="6155141" cy="346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83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6359-6657-4BF2-2A66-262B27D33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4" y="327025"/>
            <a:ext cx="5167311" cy="1946274"/>
          </a:xfrm>
        </p:spPr>
        <p:txBody>
          <a:bodyPr anchor="b">
            <a:normAutofit/>
          </a:bodyPr>
          <a:lstStyle/>
          <a:p>
            <a:r>
              <a:rPr lang="en-US" sz="3600"/>
              <a:t>Challenges &amp; Questions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09A171-45F9-0293-0CE8-A1D1D0954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76" r="40576"/>
          <a:stretch>
            <a:fillRect/>
          </a:stretch>
        </p:blipFill>
        <p:spPr>
          <a:xfrm>
            <a:off x="5721536" y="1"/>
            <a:ext cx="6470464" cy="6856412"/>
          </a:xfrm>
          <a:custGeom>
            <a:avLst/>
            <a:gdLst/>
            <a:ahLst/>
            <a:cxnLst/>
            <a:rect l="l" t="t" r="r" b="b"/>
            <a:pathLst>
              <a:path w="6470464" h="6856412">
                <a:moveTo>
                  <a:pt x="0" y="0"/>
                </a:moveTo>
                <a:lnTo>
                  <a:pt x="6470464" y="0"/>
                </a:lnTo>
                <a:lnTo>
                  <a:pt x="6470464" y="6856412"/>
                </a:lnTo>
                <a:lnTo>
                  <a:pt x="753" y="6856412"/>
                </a:lnTo>
                <a:lnTo>
                  <a:pt x="83736" y="6682434"/>
                </a:lnTo>
                <a:cubicBezTo>
                  <a:pt x="534353" y="5654674"/>
                  <a:pt x="777103" y="4561946"/>
                  <a:pt x="777103" y="3428997"/>
                </a:cubicBezTo>
                <a:cubicBezTo>
                  <a:pt x="777103" y="2296047"/>
                  <a:pt x="534353" y="1203318"/>
                  <a:pt x="83736" y="175558"/>
                </a:cubicBezTo>
                <a:close/>
              </a:path>
            </a:pathLst>
          </a:custGeom>
        </p:spPr>
      </p:pic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D91A94E-48DB-6270-CB9E-91F0AC98CA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804709"/>
              </p:ext>
            </p:extLst>
          </p:nvPr>
        </p:nvGraphicFramePr>
        <p:xfrm>
          <a:off x="481014" y="2614613"/>
          <a:ext cx="5167311" cy="3590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0334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4E337-3E5D-4A1F-A5A1-2057F25B8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50D69-7CF7-4844-B844-A2B821C7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7854"/>
            <a:ext cx="12192000" cy="6865854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79B3B-B667-79CD-0B10-6B9AB3280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601744"/>
            <a:ext cx="6781800" cy="1338696"/>
          </a:xfrm>
        </p:spPr>
        <p:txBody>
          <a:bodyPr>
            <a:normAutofit/>
          </a:bodyPr>
          <a:lstStyle/>
          <a:p>
            <a:r>
              <a:rPr lang="en-US" dirty="0"/>
              <a:t>Scalability</a:t>
            </a:r>
          </a:p>
        </p:txBody>
      </p:sp>
      <p:pic>
        <p:nvPicPr>
          <p:cNvPr id="5" name="Picture 4" descr="City on a sunny day">
            <a:extLst>
              <a:ext uri="{FF2B5EF4-FFF2-40B4-BE49-F238E27FC236}">
                <a16:creationId xmlns:a16="http://schemas.microsoft.com/office/drawing/2014/main" id="{909AFE41-1EA4-7023-F8FB-C1C37B358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25" r="25082" b="-1"/>
          <a:stretch>
            <a:fillRect/>
          </a:stretch>
        </p:blipFill>
        <p:spPr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E88C0-0973-A1EA-E419-CC7F385B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1" y="2201958"/>
            <a:ext cx="6781800" cy="3900730"/>
          </a:xfrm>
        </p:spPr>
        <p:txBody>
          <a:bodyPr anchor="t">
            <a:normAutofit/>
          </a:bodyPr>
          <a:lstStyle/>
          <a:p>
            <a:pPr lvl="0"/>
            <a:r>
              <a:rPr lang="en-US" sz="2000"/>
              <a:t>Start with one data center + one community pool </a:t>
            </a:r>
          </a:p>
          <a:p>
            <a:pPr lvl="0"/>
            <a:r>
              <a:rPr lang="en-US" sz="2000"/>
              <a:t>Expand to gyms, schools, apartments, and hospitals </a:t>
            </a:r>
          </a:p>
          <a:p>
            <a:pPr lvl="0"/>
            <a:r>
              <a:rPr lang="en-US" sz="2000"/>
              <a:t>Excess heat could support entire neighborhoods </a:t>
            </a:r>
          </a:p>
          <a:p>
            <a:pPr lvl="0"/>
            <a:r>
              <a:rPr lang="en-US" sz="2000"/>
              <a:t>Could become part of a district heating network </a:t>
            </a:r>
          </a:p>
          <a:p>
            <a:pPr lvl="0"/>
            <a:r>
              <a:rPr lang="en-US" sz="2000"/>
              <a:t>Strongest in areas with many data centers and year-round heating demand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8059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D2F4C-9CF1-5D3B-6D02-873EA24E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/>
              <a:t>In Conclusion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94B0B-5959-D983-96C5-8F9F9D324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pPr lvl="0"/>
            <a:r>
              <a:rPr lang="en-US" sz="2000"/>
              <a:t>Data centers have too much heat </a:t>
            </a:r>
          </a:p>
          <a:p>
            <a:pPr lvl="0"/>
            <a:r>
              <a:rPr lang="en-US" sz="2000"/>
              <a:t>Community facilities need heat </a:t>
            </a:r>
          </a:p>
          <a:p>
            <a:pPr lvl="0"/>
            <a:r>
              <a:rPr lang="en-US" sz="2000"/>
              <a:t>Connecting them reduces waste and energy costs </a:t>
            </a:r>
          </a:p>
          <a:p>
            <a:pPr lvl="0"/>
            <a:r>
              <a:rPr lang="en-US" sz="2000"/>
              <a:t>Creates both environmental and community benefits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353228-B6C9-6C69-0CF1-624970C4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1071282"/>
            <a:ext cx="4737650" cy="473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5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188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The Data Center–Swimming Pool Energy Loop</vt:lpstr>
      <vt:lpstr>The Problem</vt:lpstr>
      <vt:lpstr>The Solution</vt:lpstr>
      <vt:lpstr>Challenges &amp; Questions</vt:lpstr>
      <vt:lpstr>Scalability</vt:lpstr>
      <vt:lpstr>In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Yousef Fouad Zurba</dc:creator>
  <cp:lastModifiedBy>Yousef Fouad Zurba</cp:lastModifiedBy>
  <cp:revision>3</cp:revision>
  <dcterms:created xsi:type="dcterms:W3CDTF">2026-09-16T22:28:33Z</dcterms:created>
  <dcterms:modified xsi:type="dcterms:W3CDTF">2026-09-22T23:23:38Z</dcterms:modified>
</cp:coreProperties>
</file>